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1" Type="http://schemas.openxmlformats.org/officeDocument/2006/relationships/slideMaster" Target="slideMasters/slideMaster1.xml" /><Relationship Id="rId8" Type="http://schemas.openxmlformats.org/officeDocument/2006/relationships/presProps" Target="presProps.xml" /><Relationship Id="rId9" Type="http://schemas.openxmlformats.org/officeDocument/2006/relationships/viewProps" Target="viewProps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00000"/>
            <a:ext cx="8229600" cy="1100000"/>
          </a:xfrm>
        </p:spPr>
        <p:txBody>
          <a:bodyPr/>
          <a:lstStyle>
            <a:lvl1pPr marL="0" indent="0" algn="l">
              <a:buNone/>
              <a:defRPr sz="3600" b="1">
                <a:solidFill>
                  <a:srgbClr val="11111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800000"/>
            <a:ext cx="8229600" cy="600000"/>
          </a:xfrm>
        </p:spPr>
        <p:txBody>
          <a:bodyPr/>
          <a:lstStyle>
            <a:lvl1pPr marL="0" indent="0" algn="l">
              <a:buNone/>
              <a:defRPr sz="2000" b="0">
                <a:solidFill>
                  <a:srgbClr val="8B00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00" name="Title rule"/>
          <p:cNvCxnSpPr/>
          <p:nvPr userDrawn="1"/>
        </p:nvCxnSpPr>
        <p:spPr>
          <a:xfrm>
            <a:off x="457200" y="2700000"/>
            <a:ext cx="8229600" cy="0"/>
          </a:xfrm>
          <a:prstGeom prst="line">
            <a:avLst/>
          </a:prstGeom>
          <a:ln w="25400">
            <a:solidFill>
              <a:srgbClr val="8B0000"/>
            </a:solidFill>
          </a:ln>
        </p:spPr>
      </p:cxn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0000"/>
            <a:ext cx="8229600" cy="39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b"/>
          <a:lstStyle>
            <a:lvl1pPr marL="0" indent="0" algn="l">
              <a:buNone/>
              <a:defRPr sz="2600" b="1">
                <a:solidFill>
                  <a:srgbClr val="11111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0000"/>
            <a:ext cx="8229600" cy="30435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093500"/>
            <a:ext cx="8229600" cy="800000"/>
          </a:xfrm>
        </p:spPr>
        <p:txBody>
          <a:bodyPr/>
          <a:lstStyle>
            <a:lvl1pPr marL="0" indent="0" algn="l">
              <a:buNone/>
              <a:defRPr sz="1400" b="0">
                <a:solidFill>
                  <a:srgbClr val="5C5C5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7200" y="200000"/>
            <a:ext cx="8229600" cy="560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50000"/>
            <a:ext cx="8229600" cy="394350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00" name="Title rule"/>
          <p:cNvCxnSpPr/>
          <p:nvPr userDrawn="1"/>
        </p:nvCxnSpPr>
        <p:spPr>
          <a:xfrm>
            <a:off x="457200" y="800000"/>
            <a:ext cx="8229600" cy="0"/>
          </a:xfrm>
          <a:prstGeom prst="line">
            <a:avLst/>
          </a:prstGeom>
          <a:ln w="19050">
            <a:solidFill>
              <a:srgbClr val="8B0000"/>
            </a:solidFill>
          </a:ln>
        </p:spPr>
      </p:cxn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b="1" kern="1200" sz="2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4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00000"/>
            <a:ext cx="8229600" cy="11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Body mass of Palmer penguins by species and sex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457200" y="2800000"/>
            <a:ext cx="8229600" cy="6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worked example of the R analysis project template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October 7,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 and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939800"/>
          <a:ext cx="82296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much heavier are male penguins than females, and does the difference depend on the species?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Penguins measured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344 penguins of three species, Palmer Archipelago, Antarctica, 2007 to 2009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Analysed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333 with every measurement and a recorded sex; left out: 6 Adelie and 5 Gentoo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datasets::penguins</a:t>
                      </a:r>
                      <a:r>
                        <a:rPr/>
                        <a:t>, shipped with R since 4.5; Gorman, Williams and Fraser (2014)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Males are heavier in every species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Points: individual penguins. Black: means with 95% confidence intervals.</a:t>
            </a:r>
          </a:p>
        </p:txBody>
      </p:sp>
      <p:pic>
        <p:nvPicPr>
          <p:cNvPr descr="../outputs/figures/body_mass_sli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939800"/>
            <a:ext cx="5397500" cy="303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Male minus female body mass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Difference in means within each species, with its Welch confidence interval at 95%.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939800"/>
          <a:ext cx="82296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Difference (g)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675 [573, 776]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412 [254, 570]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805 [697, 913]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Penguins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Adjusted for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Males</a:t>
            </a:r>
            <a:r>
              <a:rPr/>
              <a:t> heavier by 668 [599, 736] g</a:t>
            </a:r>
          </a:p>
          <a:p>
            <a:pPr lvl="0"/>
            <a:r>
              <a:rPr b="1"/>
              <a:t>Gentoo</a:t>
            </a:r>
            <a:r>
              <a:rPr/>
              <a:t> heavier than Adelie of the same sex, by 1378 [1301, 1455] g</a:t>
            </a:r>
          </a:p>
          <a:p>
            <a:pPr lvl="0"/>
            <a:r>
              <a:rPr b="1"/>
              <a:t>Chinstrap</a:t>
            </a:r>
            <a:r>
              <a:rPr/>
              <a:t> and Adelie: 27 [−65, 118] g, no clear difference</a:t>
            </a:r>
          </a:p>
          <a:p>
            <a:pPr lvl="0"/>
            <a:r>
              <a:rPr b="1"/>
              <a:t>Model:</a:t>
            </a:r>
            <a:r>
              <a:rPr/>
              <a:t> body mass on species and sex, 333 penguins, R² 0.85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00"/>
            <a:ext cx="8229600" cy="56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One difference for all species:</a:t>
            </a:r>
            <a:r>
              <a:rPr/>
              <a:t> the model assumes it; the within-species differences range from 412 to 805 g</a:t>
            </a:r>
          </a:p>
          <a:p>
            <a:pPr lvl="0"/>
            <a:r>
              <a:rPr b="1"/>
              <a:t>Complete records only:</a:t>
            </a:r>
            <a:r>
              <a:rPr/>
              <a:t> 11 penguins without a recorded sex are left out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11111"/>
      </a:dk2>
      <a:lt2>
        <a:srgbClr val="F5F5F5"/>
      </a:lt2>
      <a:accent1>
        <a:srgbClr val="404040"/>
      </a:accent1>
      <a:accent2>
        <a:srgbClr val="8B0000"/>
      </a:accent2>
      <a:accent3>
        <a:srgbClr val="191970"/>
      </a:accent3>
      <a:accent4>
        <a:srgbClr val="4477AA"/>
      </a:accent4>
      <a:accent5>
        <a:srgbClr val="EE6677"/>
      </a:accent5>
      <a:accent6>
        <a:srgbClr val="997700"/>
      </a:accent6>
      <a:hlink>
        <a:srgbClr val="8B0000"/>
      </a:hlink>
      <a:folHlink>
        <a:srgbClr val="5C5C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mass of Palmer penguins by species and sex</dc:title>
  <dc:creator/>
  <cp:keywords/>
  <dcterms:created xsi:type="dcterms:W3CDTF">2026-10-07T20:50:37Z</dcterms:created>
  <dcterms:modified xsi:type="dcterms:W3CDTF">2026-10-07T20:50:37Z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date">
    <vt:lpwstr>October 7, 2026</vt:lpwstr>
  </property>
  <property fmtid="{D5CDD505-2E9C-101B-9397-08002B2CF9AE}" pid="4" name="date-format">
    <vt:lpwstr>long</vt:lpwstr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A worked example of the R analysis project template</vt:lpwstr>
  </property>
  <property fmtid="{D5CDD505-2E9C-101B-9397-08002B2CF9AE}" pid="11" name="toc-title">
    <vt:lpwstr>Table of contents</vt:lpwstr>
  </property>
</Properties>
</file>